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40D0858-082E-486E-A01C-A034E7E2B990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6DF"/>
    <a:srgbClr val="F6F6F6"/>
    <a:srgbClr val="C3D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A702-21F6-FF5F-FC90-EADDBF99C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3B011-7D0A-D9B7-A46E-3537EA572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C7265-0420-F9AE-96B7-689942F1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C0118-54C2-749D-C8F9-32FD91C98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DEFBE-CE48-1606-502D-2C55D368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9246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4F7D-06E0-F906-6290-E94ED16F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CE3A5-AE2A-710D-C5ED-8E8A15342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1DC6-6F59-8448-5207-C3912A15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79126-70A4-CF02-691F-91122252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93109-9EA8-239B-6405-9E90858F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2628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ED4E-7A09-F7D7-D48B-2FAED586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7D303-A0EE-980D-28BB-5E3E60A95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102B2-43BA-99C2-06B4-A74E8B402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E4B6-9FD8-1DD7-CFDB-8A3CB9FD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DD40D-F744-DBFE-8FDB-D515C337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52526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9F4D-42E5-BDED-2CD2-97629DAF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E0B8B-5AD8-D8FF-FED9-CD9328447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BA831-B2EB-903C-622E-E826E3D57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E2A40-3838-DC0B-E417-78C73DA5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1E95A-661F-3273-E22C-9EBFC689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BC674-6E23-4B0D-66F2-6B790A60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9019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19B3-92D2-6C7A-C099-896C4BF7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1693-48F7-3F76-F206-C68D02E19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8FF3D-C3B5-2314-F874-DBB3484D0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3464E-FDBB-B844-18A1-85DDCBA71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01156-F4BE-24B3-A4DA-B2A1DFD0B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C6D4A3-E437-514D-6187-BFA01F6C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A2EA0-D154-3759-4EEA-4B975B4D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48D95-2AA1-8996-451C-FF542755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84296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20665-2E8B-6C9E-BEC8-A6357112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B9D4F-E685-6933-CD5D-B1713314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EB05A-6746-E3B4-E2EF-9EE96E1B1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B6D98-3A0B-E95B-7C0B-4B20D44C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7316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06DC4-3840-1E65-2AC9-8E4683F9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468E3-CC8B-93E0-2F7A-0CC35FB6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61E00-6DE1-D921-7370-B3A045D3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7173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9B00D-31E6-453F-D06C-88BF9136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E5170-B752-3B2F-978B-2531BAF36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8D156-8682-BCB3-6CF4-9A3C71D8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2F181-ECBC-ADA8-5D8F-9CF2E17FD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5BFF0-A850-39EB-3334-35ECC324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F4536-6BB3-F7B4-0930-E0A1972B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06395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24E32-058D-7370-5052-8D1AB5D6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E151AC-6131-7D34-C1D8-A0F132A27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47882-46ED-4374-EFD7-BD5C193E4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359E7-01A9-291F-080E-A12DA8257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95957-DFC6-C59A-7789-64D50BD4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86D96-CCAB-1B05-9C5D-2F8E1B76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9214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9B6B-80C7-1180-95D3-0045F8BF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38CA8-1716-CB23-901E-BEABB49AF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31F26-AAF7-5269-54FE-28526CDB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752AE-5E10-F232-0B76-F62582573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F1A14-60B5-25B7-105E-A5168BA5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0283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8CB59-C78F-63D7-34BA-69D6FC07F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1593F-03DE-43C2-C9D2-7B308E710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A6EA-3A98-BF47-CC4C-2F2E9E7D6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D7229-7109-D9CA-8BF7-A6A28D20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7BD12-46C5-0FD0-935A-1D7F26D7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2869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32D18-7292-28C3-AB66-08F97BD0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4A89C-9A6C-9530-37E3-2E8690983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31E1E-6191-2871-B9EA-FD81EF0D8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FAA59-73F8-475B-8A0C-41450DB4CD49}" type="datetimeFigureOut">
              <a:rPr lang="en-KE" smtClean="0"/>
              <a:t>30 Mar 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5ADD9-9338-5A9B-4168-FC77E6950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EE526-96E0-284E-C9A0-EB5650CE6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0EEB0-2201-4E73-AA8F-007047B3A9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2297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ABA6E-BF33-87D3-53DB-8106234E280A}"/>
              </a:ext>
            </a:extLst>
          </p:cNvPr>
          <p:cNvSpPr/>
          <p:nvPr/>
        </p:nvSpPr>
        <p:spPr>
          <a:xfrm>
            <a:off x="481283" y="309673"/>
            <a:ext cx="11194311" cy="6238653"/>
          </a:xfrm>
          <a:prstGeom prst="roundRect">
            <a:avLst>
              <a:gd name="adj" fmla="val 3855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268ABB6-6172-0691-E564-633487FF1F5A}"/>
              </a:ext>
            </a:extLst>
          </p:cNvPr>
          <p:cNvSpPr/>
          <p:nvPr/>
        </p:nvSpPr>
        <p:spPr>
          <a:xfrm rot="10800000">
            <a:off x="479462" y="1252863"/>
            <a:ext cx="11194311" cy="5421274"/>
          </a:xfrm>
          <a:prstGeom prst="round2SameRect">
            <a:avLst>
              <a:gd name="adj1" fmla="val 4806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31575B-F6C2-C74A-8D01-75E5424E2718}"/>
              </a:ext>
            </a:extLst>
          </p:cNvPr>
          <p:cNvSpPr/>
          <p:nvPr/>
        </p:nvSpPr>
        <p:spPr>
          <a:xfrm>
            <a:off x="786809" y="463194"/>
            <a:ext cx="574158" cy="499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0243DF-A5D1-C287-6802-AA4BF88FAEB2}"/>
              </a:ext>
            </a:extLst>
          </p:cNvPr>
          <p:cNvSpPr/>
          <p:nvPr/>
        </p:nvSpPr>
        <p:spPr>
          <a:xfrm>
            <a:off x="2006305" y="463194"/>
            <a:ext cx="3932677" cy="499733"/>
          </a:xfrm>
          <a:prstGeom prst="roundRect">
            <a:avLst>
              <a:gd name="adj" fmla="val 388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C000"/>
                </a:solidFill>
              </a:rPr>
              <a:t>Jumia sales Dashboard I</a:t>
            </a:r>
            <a:endParaRPr lang="en-KE" sz="2800" b="1" dirty="0">
              <a:solidFill>
                <a:srgbClr val="FFC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11B684-0269-33BD-7382-4B2D5BD0E964}"/>
              </a:ext>
            </a:extLst>
          </p:cNvPr>
          <p:cNvSpPr/>
          <p:nvPr/>
        </p:nvSpPr>
        <p:spPr>
          <a:xfrm>
            <a:off x="6861251" y="463194"/>
            <a:ext cx="2020186" cy="499733"/>
          </a:xfrm>
          <a:prstGeom prst="roundRect">
            <a:avLst/>
          </a:prstGeom>
          <a:noFill/>
          <a:ln w="22225">
            <a:solidFill>
              <a:srgbClr val="C3D3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38B889-823F-1046-1303-921FCF2638C8}"/>
              </a:ext>
            </a:extLst>
          </p:cNvPr>
          <p:cNvSpPr txBox="1"/>
          <p:nvPr/>
        </p:nvSpPr>
        <p:spPr>
          <a:xfrm>
            <a:off x="10170653" y="414249"/>
            <a:ext cx="14451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Georgia" panose="02040502050405020303" pitchFamily="18" charset="0"/>
              </a:rPr>
              <a:t>Brian Igana</a:t>
            </a:r>
            <a:endParaRPr lang="en-KE" sz="1050" b="1" dirty="0">
              <a:latin typeface="Georgia" panose="02040502050405020303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81B71C-8B3D-3A10-47BA-9A769A65F12B}"/>
              </a:ext>
            </a:extLst>
          </p:cNvPr>
          <p:cNvSpPr/>
          <p:nvPr/>
        </p:nvSpPr>
        <p:spPr>
          <a:xfrm>
            <a:off x="679597" y="1453666"/>
            <a:ext cx="1509421" cy="503432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AB9891-FECE-13D6-ED6D-F375874E9FA1}"/>
              </a:ext>
            </a:extLst>
          </p:cNvPr>
          <p:cNvSpPr/>
          <p:nvPr/>
        </p:nvSpPr>
        <p:spPr>
          <a:xfrm>
            <a:off x="679597" y="2003382"/>
            <a:ext cx="3615311" cy="4359068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E5AAEB-8FE5-E3B5-01B4-B2C74D0B805A}"/>
              </a:ext>
            </a:extLst>
          </p:cNvPr>
          <p:cNvSpPr/>
          <p:nvPr/>
        </p:nvSpPr>
        <p:spPr>
          <a:xfrm>
            <a:off x="609670" y="1407382"/>
            <a:ext cx="1258096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Total Products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B1D49A8-F5CB-BDE8-F2D8-CEB493B4F3A5}"/>
              </a:ext>
            </a:extLst>
          </p:cNvPr>
          <p:cNvSpPr/>
          <p:nvPr/>
        </p:nvSpPr>
        <p:spPr>
          <a:xfrm>
            <a:off x="644176" y="2084733"/>
            <a:ext cx="1810852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Top products by rating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476FE65-7CBE-F091-0622-2264BC684BF8}"/>
              </a:ext>
            </a:extLst>
          </p:cNvPr>
          <p:cNvSpPr/>
          <p:nvPr/>
        </p:nvSpPr>
        <p:spPr>
          <a:xfrm>
            <a:off x="2387332" y="1443214"/>
            <a:ext cx="1509421" cy="503432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112543B-2F61-AEF1-632F-86BF63595A76}"/>
              </a:ext>
            </a:extLst>
          </p:cNvPr>
          <p:cNvSpPr/>
          <p:nvPr/>
        </p:nvSpPr>
        <p:spPr>
          <a:xfrm>
            <a:off x="4095067" y="1448417"/>
            <a:ext cx="1509421" cy="503432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88BAC8-88E6-D252-5806-779D1CB54520}"/>
              </a:ext>
            </a:extLst>
          </p:cNvPr>
          <p:cNvSpPr/>
          <p:nvPr/>
        </p:nvSpPr>
        <p:spPr>
          <a:xfrm>
            <a:off x="5802802" y="1461731"/>
            <a:ext cx="1509421" cy="503432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29AB98-BB5C-7099-78A7-A4E08FDD44EF}"/>
              </a:ext>
            </a:extLst>
          </p:cNvPr>
          <p:cNvSpPr/>
          <p:nvPr/>
        </p:nvSpPr>
        <p:spPr>
          <a:xfrm>
            <a:off x="4000059" y="1415020"/>
            <a:ext cx="1627127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Average Discount %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4D49564-4FAD-08AA-1D5D-DAE420405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09" y="486165"/>
            <a:ext cx="612758" cy="61405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BB9E82B-5C2C-B68A-F4DF-3543F2CAB99F}"/>
              </a:ext>
            </a:extLst>
          </p:cNvPr>
          <p:cNvSpPr/>
          <p:nvPr/>
        </p:nvSpPr>
        <p:spPr>
          <a:xfrm>
            <a:off x="8109527" y="2003382"/>
            <a:ext cx="3402876" cy="4359068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B1189CD-C16B-FA7E-DB38-BDB269FF72A0}"/>
              </a:ext>
            </a:extLst>
          </p:cNvPr>
          <p:cNvSpPr/>
          <p:nvPr/>
        </p:nvSpPr>
        <p:spPr>
          <a:xfrm>
            <a:off x="4468467" y="2003382"/>
            <a:ext cx="3488925" cy="4359068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71EDF60-F854-74E0-BDF1-655792EFE4E7}"/>
              </a:ext>
            </a:extLst>
          </p:cNvPr>
          <p:cNvSpPr/>
          <p:nvPr/>
        </p:nvSpPr>
        <p:spPr>
          <a:xfrm>
            <a:off x="4468468" y="2084733"/>
            <a:ext cx="2856406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Top products by number of reviews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E2F39A-B4E9-D83E-508A-6FCA88FB16AC}"/>
              </a:ext>
            </a:extLst>
          </p:cNvPr>
          <p:cNvSpPr/>
          <p:nvPr/>
        </p:nvSpPr>
        <p:spPr>
          <a:xfrm>
            <a:off x="8472567" y="2084733"/>
            <a:ext cx="2856406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Top products by Discount %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D6011A7-2078-06B4-03A5-06B29EF8D712}"/>
              </a:ext>
            </a:extLst>
          </p:cNvPr>
          <p:cNvSpPr/>
          <p:nvPr/>
        </p:nvSpPr>
        <p:spPr>
          <a:xfrm>
            <a:off x="7510537" y="1436334"/>
            <a:ext cx="1509421" cy="503432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337C249-9856-08ED-F487-C1CC4C83C35E}"/>
              </a:ext>
            </a:extLst>
          </p:cNvPr>
          <p:cNvSpPr/>
          <p:nvPr/>
        </p:nvSpPr>
        <p:spPr>
          <a:xfrm>
            <a:off x="9188566" y="1418685"/>
            <a:ext cx="1509421" cy="503432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2A0F97-799A-0687-838F-B8D1F29091E5}"/>
              </a:ext>
            </a:extLst>
          </p:cNvPr>
          <p:cNvSpPr/>
          <p:nvPr/>
        </p:nvSpPr>
        <p:spPr>
          <a:xfrm>
            <a:off x="9187679" y="1382788"/>
            <a:ext cx="1831303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Avg Current Price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969BA5-5312-64E6-E0D9-6736A0B0D9B6}"/>
              </a:ext>
            </a:extLst>
          </p:cNvPr>
          <p:cNvSpPr/>
          <p:nvPr/>
        </p:nvSpPr>
        <p:spPr>
          <a:xfrm>
            <a:off x="7425346" y="1372401"/>
            <a:ext cx="1678029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Avg Old Price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710D826-9D54-5916-53CE-B711AACA3379}"/>
              </a:ext>
            </a:extLst>
          </p:cNvPr>
          <p:cNvSpPr/>
          <p:nvPr/>
        </p:nvSpPr>
        <p:spPr>
          <a:xfrm>
            <a:off x="5722648" y="1428773"/>
            <a:ext cx="1381900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Total Reviews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1CF3994-4C85-DD6D-02DE-7B464544C077}"/>
              </a:ext>
            </a:extLst>
          </p:cNvPr>
          <p:cNvSpPr/>
          <p:nvPr/>
        </p:nvSpPr>
        <p:spPr>
          <a:xfrm>
            <a:off x="2284025" y="1424314"/>
            <a:ext cx="1381900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Average Rating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52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D9A85-1AE7-2144-3541-166072B58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22A858-6384-A136-9A6B-F7782145DCB9}"/>
              </a:ext>
            </a:extLst>
          </p:cNvPr>
          <p:cNvSpPr/>
          <p:nvPr/>
        </p:nvSpPr>
        <p:spPr>
          <a:xfrm>
            <a:off x="481283" y="309673"/>
            <a:ext cx="11194311" cy="6238653"/>
          </a:xfrm>
          <a:prstGeom prst="roundRect">
            <a:avLst>
              <a:gd name="adj" fmla="val 3855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E5642FFD-4D25-133A-BA08-4BE011456F6F}"/>
              </a:ext>
            </a:extLst>
          </p:cNvPr>
          <p:cNvSpPr/>
          <p:nvPr/>
        </p:nvSpPr>
        <p:spPr>
          <a:xfrm rot="10800000">
            <a:off x="480371" y="1280573"/>
            <a:ext cx="11194311" cy="5421274"/>
          </a:xfrm>
          <a:prstGeom prst="round2SameRect">
            <a:avLst>
              <a:gd name="adj1" fmla="val 4806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65338C-967C-4D7C-FE1D-C021976061DB}"/>
              </a:ext>
            </a:extLst>
          </p:cNvPr>
          <p:cNvSpPr/>
          <p:nvPr/>
        </p:nvSpPr>
        <p:spPr>
          <a:xfrm>
            <a:off x="786809" y="463194"/>
            <a:ext cx="574158" cy="499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0A8A89-0D00-0E92-553F-EC219C931699}"/>
              </a:ext>
            </a:extLst>
          </p:cNvPr>
          <p:cNvSpPr/>
          <p:nvPr/>
        </p:nvSpPr>
        <p:spPr>
          <a:xfrm>
            <a:off x="2006305" y="463194"/>
            <a:ext cx="3969089" cy="499733"/>
          </a:xfrm>
          <a:prstGeom prst="roundRect">
            <a:avLst>
              <a:gd name="adj" fmla="val 388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C000"/>
                </a:solidFill>
              </a:rPr>
              <a:t>Jumia sales Dashboard II</a:t>
            </a:r>
            <a:endParaRPr lang="en-KE" sz="2800" b="1" dirty="0">
              <a:solidFill>
                <a:srgbClr val="FFC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71FCD5-1F44-271D-8402-568AA0D35A0F}"/>
              </a:ext>
            </a:extLst>
          </p:cNvPr>
          <p:cNvSpPr/>
          <p:nvPr/>
        </p:nvSpPr>
        <p:spPr>
          <a:xfrm>
            <a:off x="6861251" y="463194"/>
            <a:ext cx="2020186" cy="499733"/>
          </a:xfrm>
          <a:prstGeom prst="roundRect">
            <a:avLst/>
          </a:prstGeom>
          <a:noFill/>
          <a:ln w="22225">
            <a:solidFill>
              <a:srgbClr val="C3D3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3B25B-E66F-B949-03D4-BB6985DA41A4}"/>
              </a:ext>
            </a:extLst>
          </p:cNvPr>
          <p:cNvSpPr txBox="1"/>
          <p:nvPr/>
        </p:nvSpPr>
        <p:spPr>
          <a:xfrm>
            <a:off x="10170653" y="414249"/>
            <a:ext cx="14451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Georgia" panose="02040502050405020303" pitchFamily="18" charset="0"/>
              </a:rPr>
              <a:t>Brian Igana</a:t>
            </a:r>
            <a:endParaRPr lang="en-KE" sz="1050" b="1" dirty="0">
              <a:latin typeface="Georgia" panose="02040502050405020303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C023FC-7959-1436-82E8-8148A16EE940}"/>
              </a:ext>
            </a:extLst>
          </p:cNvPr>
          <p:cNvSpPr/>
          <p:nvPr/>
        </p:nvSpPr>
        <p:spPr>
          <a:xfrm>
            <a:off x="576149" y="1417861"/>
            <a:ext cx="3954903" cy="2561555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8A40D3-72E5-DD43-DD4B-0E45AE70B5D8}"/>
              </a:ext>
            </a:extLst>
          </p:cNvPr>
          <p:cNvSpPr/>
          <p:nvPr/>
        </p:nvSpPr>
        <p:spPr>
          <a:xfrm>
            <a:off x="4644308" y="1429591"/>
            <a:ext cx="3459771" cy="3207723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C20DE39-CED8-6D21-75B6-D0E3F02FE011}"/>
              </a:ext>
            </a:extLst>
          </p:cNvPr>
          <p:cNvSpPr/>
          <p:nvPr/>
        </p:nvSpPr>
        <p:spPr>
          <a:xfrm>
            <a:off x="472959" y="1361473"/>
            <a:ext cx="2119567" cy="368115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Discount % versus reviews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3DE324B-0280-E717-EBEE-0F9FABD4C93B}"/>
              </a:ext>
            </a:extLst>
          </p:cNvPr>
          <p:cNvSpPr/>
          <p:nvPr/>
        </p:nvSpPr>
        <p:spPr>
          <a:xfrm>
            <a:off x="4779066" y="1361473"/>
            <a:ext cx="3100601" cy="333929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Top 5 Highest Rated Products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D516B2-393C-C3FB-62CD-73879EA5B5E9}"/>
              </a:ext>
            </a:extLst>
          </p:cNvPr>
          <p:cNvSpPr/>
          <p:nvPr/>
        </p:nvSpPr>
        <p:spPr>
          <a:xfrm>
            <a:off x="8457181" y="1886626"/>
            <a:ext cx="1726552" cy="298000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904B070-A969-A4A7-4140-12D74AD2B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09" y="486165"/>
            <a:ext cx="612758" cy="61405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2B5DE9-5E8C-34EF-4ECD-8C51BA6BFB6E}"/>
              </a:ext>
            </a:extLst>
          </p:cNvPr>
          <p:cNvSpPr/>
          <p:nvPr/>
        </p:nvSpPr>
        <p:spPr>
          <a:xfrm>
            <a:off x="576148" y="4055415"/>
            <a:ext cx="3954903" cy="2561555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E607878-C72B-581A-32A5-C5F5A64177D5}"/>
              </a:ext>
            </a:extLst>
          </p:cNvPr>
          <p:cNvSpPr/>
          <p:nvPr/>
        </p:nvSpPr>
        <p:spPr>
          <a:xfrm>
            <a:off x="472959" y="4111168"/>
            <a:ext cx="2254243" cy="217272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Rating versus reviews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776306-9D46-80B5-F9BF-5E5CBE98EB82}"/>
              </a:ext>
            </a:extLst>
          </p:cNvPr>
          <p:cNvSpPr/>
          <p:nvPr/>
        </p:nvSpPr>
        <p:spPr>
          <a:xfrm>
            <a:off x="8214164" y="1417861"/>
            <a:ext cx="3401687" cy="3207723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341994C-1464-8C3C-FCB5-EB9CFA98E3E9}"/>
              </a:ext>
            </a:extLst>
          </p:cNvPr>
          <p:cNvSpPr/>
          <p:nvPr/>
        </p:nvSpPr>
        <p:spPr>
          <a:xfrm>
            <a:off x="8238837" y="1361473"/>
            <a:ext cx="3377014" cy="333929"/>
          </a:xfrm>
          <a:prstGeom prst="roundRect">
            <a:avLst>
              <a:gd name="adj" fmla="val 3888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</a:rPr>
              <a:t>Bottom 5 Lowest Rated Products</a:t>
            </a:r>
            <a:endParaRPr lang="en-KE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94E948-D67F-7AFA-8CD3-ECEA3CB59EA5}"/>
              </a:ext>
            </a:extLst>
          </p:cNvPr>
          <p:cNvSpPr/>
          <p:nvPr/>
        </p:nvSpPr>
        <p:spPr>
          <a:xfrm>
            <a:off x="4644308" y="4762873"/>
            <a:ext cx="6883663" cy="1725155"/>
          </a:xfrm>
          <a:prstGeom prst="roundRect">
            <a:avLst>
              <a:gd name="adj" fmla="val 6532"/>
            </a:avLst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40001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59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Igana</dc:creator>
  <cp:lastModifiedBy>Brian Igana</cp:lastModifiedBy>
  <cp:revision>6</cp:revision>
  <dcterms:created xsi:type="dcterms:W3CDTF">2025-09-02T12:34:47Z</dcterms:created>
  <dcterms:modified xsi:type="dcterms:W3CDTF">2026-03-30T00:56:00Z</dcterms:modified>
</cp:coreProperties>
</file>